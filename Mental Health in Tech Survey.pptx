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7e88b4f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7e88b4f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77e88b4f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77e88b4f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7e88b4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77e88b4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77e88b4f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77e88b4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77e88b4f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77e88b4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77e88b4f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77e88b4f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77e88b4f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77e88b4f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77e88b4fc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77e88b4fc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77e88b4fc_2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77e88b4fc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osmi/mental-health-in-tech-201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mihelp.org/research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202124"/>
                </a:solidFill>
                <a:highlight>
                  <a:srgbClr val="FFFFFF"/>
                </a:highlight>
              </a:rPr>
              <a:t>Mental Health in Tech Survey</a:t>
            </a:r>
            <a:endParaRPr b="1" sz="26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 2025-06-22 at 6.04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198"/>
            <a:ext cx="9144002" cy="474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 2025-06-22 at 6.04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1019"/>
            <a:ext cx="9143999" cy="3341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marR="1143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rgbClr val="202124"/>
                </a:solidFill>
                <a:highlight>
                  <a:srgbClr val="FFFFFF"/>
                </a:highlight>
              </a:rPr>
              <a:t>About Dataset</a:t>
            </a:r>
            <a:endParaRPr b="1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Dataset Information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is from a 2014 survey that measures attitudes towards mental health and frequency of mental health disorders in the tech workplace. You are also encouraged to analyze data from the </a:t>
            </a: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ongoing 2016 survey found here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.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Content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contains the following data: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Timestamp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Age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Gender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Country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state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If you live in the United States, which state or territory do you live in?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self_employed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Are you self-employed?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family_history</a:t>
            </a:r>
            <a:r>
              <a:rPr lang="en" sz="1050">
                <a:solidFill>
                  <a:srgbClr val="3C4043"/>
                </a:solidFill>
              </a:rPr>
              <a:t>: Do you have a family history of mental illness?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treatment</a:t>
            </a:r>
            <a:r>
              <a:rPr lang="en" sz="1050">
                <a:solidFill>
                  <a:srgbClr val="3C4043"/>
                </a:solidFill>
              </a:rPr>
              <a:t>: Have you sought treatment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work_interfere</a:t>
            </a:r>
            <a:r>
              <a:rPr lang="en" sz="1050">
                <a:solidFill>
                  <a:srgbClr val="3C4043"/>
                </a:solidFill>
              </a:rPr>
              <a:t>: If you have a mental health condition, do you feel that it interferes with your work?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no_employees</a:t>
            </a:r>
            <a:r>
              <a:rPr lang="en" sz="1050">
                <a:solidFill>
                  <a:srgbClr val="3C4043"/>
                </a:solidFill>
              </a:rPr>
              <a:t>: How many employees does your company or organization have?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remote_work</a:t>
            </a:r>
            <a:r>
              <a:rPr lang="en" sz="1050">
                <a:solidFill>
                  <a:srgbClr val="3C4043"/>
                </a:solidFill>
              </a:rPr>
              <a:t>: Do you work remotely (outside of an office) at least 50% of the time?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tech_company</a:t>
            </a:r>
            <a:r>
              <a:rPr lang="en" sz="1050">
                <a:solidFill>
                  <a:srgbClr val="3C4043"/>
                </a:solidFill>
              </a:rPr>
              <a:t>: Is your employer primarily a tech company/organization?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benefits</a:t>
            </a:r>
            <a:r>
              <a:rPr lang="en" sz="1050">
                <a:solidFill>
                  <a:srgbClr val="3C4043"/>
                </a:solidFill>
              </a:rPr>
              <a:t>: Does your employer provide mental health benefits?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care_options</a:t>
            </a:r>
            <a:r>
              <a:rPr lang="en" sz="1050">
                <a:solidFill>
                  <a:srgbClr val="3C4043"/>
                </a:solidFill>
              </a:rPr>
              <a:t>: Do you know the options for mental health care your employer provides?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wellness_program</a:t>
            </a:r>
            <a:r>
              <a:rPr lang="en" sz="1050">
                <a:solidFill>
                  <a:srgbClr val="3C4043"/>
                </a:solidFill>
              </a:rPr>
              <a:t>: Has your employer ever discussed mental health as part of an employee wellness program?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seek_help</a:t>
            </a:r>
            <a:r>
              <a:rPr lang="en" sz="1050">
                <a:solidFill>
                  <a:srgbClr val="3C4043"/>
                </a:solidFill>
              </a:rPr>
              <a:t>: Does your employer provide resources to learn more about mental health issues and how to seek help?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anonymity</a:t>
            </a:r>
            <a:r>
              <a:rPr lang="en" sz="1050">
                <a:solidFill>
                  <a:srgbClr val="3C4043"/>
                </a:solidFill>
              </a:rPr>
              <a:t>: Is your anonymity protected if you choose to take advantage of mental health or substance abuse treatment resources?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leave</a:t>
            </a:r>
            <a:r>
              <a:rPr lang="en" sz="1050">
                <a:solidFill>
                  <a:srgbClr val="3C4043"/>
                </a:solidFill>
              </a:rPr>
              <a:t>: How easy is it for you to take medical leave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mental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physical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coworkers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coworkers?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supervisor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direct supervisor(s)?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mental_health_interview</a:t>
            </a:r>
            <a:r>
              <a:rPr lang="en" sz="1050">
                <a:solidFill>
                  <a:srgbClr val="3C4043"/>
                </a:solidFill>
              </a:rPr>
              <a:t>: Would you bring up a mental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t/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phys_health_interview</a:t>
            </a:r>
            <a:r>
              <a:rPr lang="en" sz="1050">
                <a:solidFill>
                  <a:srgbClr val="3C4043"/>
                </a:solidFill>
              </a:rPr>
              <a:t>: Would you bring up a physical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mental_vs_physical</a:t>
            </a:r>
            <a:r>
              <a:rPr lang="en" sz="1050">
                <a:solidFill>
                  <a:srgbClr val="3C4043"/>
                </a:solidFill>
              </a:rPr>
              <a:t>: Do you feel that your employer takes mental health as seriously as physical health?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obs_consequence</a:t>
            </a:r>
            <a:r>
              <a:rPr lang="en" sz="1050">
                <a:solidFill>
                  <a:srgbClr val="3C4043"/>
                </a:solidFill>
              </a:rPr>
              <a:t>: Have you heard of or observed negative consequences for coworkers with mental health conditions in your workplace?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comments</a:t>
            </a:r>
            <a:r>
              <a:rPr lang="en" sz="1050">
                <a:solidFill>
                  <a:srgbClr val="3C4043"/>
                </a:solidFill>
              </a:rPr>
              <a:t>: Any additional notes or comments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Inspiration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Some questions worth exploring: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How does the frequency of mental health illness and attitudes towards mental health vary by geographic location?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What are the strongest predictors of mental health illness or certain attitudes towards mental health in the workplace?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lnSpc>
                <a:spcPct val="122222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Acknowledgements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The original dataset is from Open Sourcing Mental Illness and can be downloaded </a:t>
            </a:r>
            <a:r>
              <a:rPr lang="en" sz="1050">
                <a:solidFill>
                  <a:srgbClr val="202124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lang="en" sz="1050">
                <a:solidFill>
                  <a:srgbClr val="3C4043"/>
                </a:solidFill>
              </a:rPr>
              <a:t>.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Apply your own </a:t>
            </a:r>
            <a:r>
              <a:rPr lang="en"/>
              <a:t>logic</a:t>
            </a:r>
            <a:r>
              <a:rPr lang="en"/>
              <a:t> in addition to this to Explore the data.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video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